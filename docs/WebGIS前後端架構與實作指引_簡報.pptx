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l">
              <a:defRPr sz="3200" b="1">
                <a:solidFill>
                  <a:srgbClr val="1B365D"/>
                </a:solidFill>
                <a:latin typeface="Noto Sans TC"/>
              </a:defRPr>
            </a:pPr>
            <a:r>
              <a:t>人行環境 WebGIS 平台</a:t>
            </a:r>
          </a:p>
          <a:p>
            <a:pPr>
              <a:spcBef>
                <a:spcPts val="800"/>
              </a:spcBef>
              <a:defRPr sz="2200" b="1">
                <a:solidFill>
                  <a:srgbClr val="0284C7"/>
                </a:solidFill>
                <a:latin typeface="Noto Sans TC"/>
              </a:defRPr>
            </a:pPr>
            <a:r>
              <a:t>前後端架構選型、UI 實作指引與維運防護完全解析</a:t>
            </a:r>
          </a:p>
          <a:p>
            <a:pPr>
              <a:spcBef>
                <a:spcPts val="1200"/>
              </a:spcBef>
              <a:defRPr sz="1700">
                <a:solidFill>
                  <a:srgbClr val="64748B"/>
                </a:solidFill>
                <a:latin typeface="Noto Sans TC"/>
              </a:defRPr>
            </a:pPr>
            <a:r>
              <a:t>讓非技術背景也能輕鬆理解與運用的空間資訊決策系統手冊</a:t>
            </a:r>
          </a:p>
          <a:p>
            <a:pPr>
              <a:spcBef>
                <a:spcPts val="20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彙整四大前後端架構差異與適用時機</a:t>
            </a:r>
            <a:br/>
            <a:r>
              <a:t>• 解析輕量化 WebGIS 實作技術與 UI/UX 調整指示</a:t>
            </a:r>
            <a:br/>
            <a:r>
              <a:t>• 盤點雲端流量控制、效能調優與資安防護要訣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簡報大綱與核心導覽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Agenda &amp;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單元 01 ｜ 前後端搭配類型與適用時機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  <a:latin typeface="Noto Sans TC"/>
              </a:defRPr>
            </a:pPr>
            <a:r>
              <a:t>地端主機 vs 雲端託管、前後端分離與純前端的全面比較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單元 02 ｜ 本專案 WebGIS 實作架構解析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  <a:latin typeface="Noto Sans TC"/>
              </a:defRPr>
            </a:pPr>
            <a:r>
              <a:t>MapLibre + Python + 記憶體空間索引之輕量化極致設計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單元 03 ｜ UI/UX 空間互動與設計指示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  <a:latin typeface="Noto Sans TC"/>
              </a:defRPr>
            </a:pPr>
            <a:r>
              <a:t>全視角地圖、無遮擋抽屜、雙軌清除防呆與行動端適配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0292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單元 04 ｜ 實務常見狀況與維運因應之道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  <a:latin typeface="Noto Sans TC"/>
              </a:defRPr>
            </a:pPr>
            <a:r>
              <a:t>Render 流量控制、大圖資快取調優與搜尋引擎隱蔽防護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常見前後端架構搭配與特性比較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四種主要架構模式之白話解析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743200"/>
                <a:gridCol w="277337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架構搭配模式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運作原理 (白話說法)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優點與長處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主要限制與注意點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1. 純靜態前端</a:t>
                      </a:r>
                    </a:p>
                    <a:p>
                      <a:r>
                        <a:t>(GitHub Pages / S3)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只有網頁與靜態圖資，無後端伺服器，全靠使用者瀏覽器運算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零伺服器維護成本</a:t>
                      </a:r>
                    </a:p>
                    <a:p>
                      <a:r>
                        <a:t>• 免費且永不當機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只能處理輕量資料</a:t>
                      </a:r>
                    </a:p>
                    <a:p>
                      <a:r>
                        <a:t>• 運算規則無法保密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2. 現代前後端分離</a:t>
                      </a:r>
                    </a:p>
                    <a:p>
                      <a:r>
                        <a:t>(本專案採用模式)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前端負責美觀呈現與地圖渲染，後端專注空間演算法與資料庫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載入極度流暢</a:t>
                      </a:r>
                    </a:p>
                    <a:p>
                      <a:r>
                        <a:t>• 運算精準且具彈性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需管理前後端 API 通訊</a:t>
                      </a:r>
                    </a:p>
                    <a:p>
                      <a:r>
                        <a:t>• 需注意流量控制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3. 全端伺服器渲染</a:t>
                      </a:r>
                    </a:p>
                    <a:p>
                      <a:r>
                        <a:t>(傳統 Django / PHP)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每次使用者點擊，伺服器都在背後把整張網頁組裝好才送出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資料庫整合度高</a:t>
                      </a:r>
                    </a:p>
                    <a:p>
                      <a:r>
                        <a:t>• 傳統系統架構成熟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換頁會整頁白色閃爍</a:t>
                      </a:r>
                    </a:p>
                    <a:p>
                      <a:r>
                        <a:t>• 地圖互動體驗較卡頓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4. 地端內部伺服器</a:t>
                      </a:r>
                    </a:p>
                    <a:p>
                      <a:r>
                        <a:t>(On-Premises 專機)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在機房或辦公室擺實體主機，透過區網或內網提供服務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算力極大、無流量限制</a:t>
                      </a:r>
                    </a:p>
                    <a:p>
                      <a:r>
                        <a:t>• 機密圖資 100% 安全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293B"/>
                          </a:solidFill>
                          <a:latin typeface="Noto Sans TC"/>
                        </a:defRPr>
                      </a:pPr>
                      <a:r>
                        <a:t>• 需專人維護硬體</a:t>
                      </a:r>
                    </a:p>
                    <a:p>
                      <a:r>
                        <a:t>• 外部人員不易連入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不同專案情境的架構選型策略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什麼時候該用哪種方案？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情境 A：公開成果與 Demo 展示</a:t>
            </a:r>
            <a:br/>
            <a:r>
              <a:t>【推薦：全線上雲端託管】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專案性質：成果發表會、主管評委簡報、跨縣市展示</a:t>
            </a:r>
            <a:br/>
            <a:r>
              <a:t>• 核心訴求：任何手機平板隨點即開、免安裝軟體</a:t>
            </a:r>
            <a:br/>
            <a:r>
              <a:t>• 搭配方案：GitHub + 免費雲端 PaaS (如 Render / Vercel)</a:t>
            </a:r>
            <a:br/>
            <a:r>
              <a:t>• 優勢：零硬體維護負擔、自動配置 SSL 安全憑證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情境 B：公務涉密與巨量運算</a:t>
            </a:r>
            <a:br/>
            <a:r>
              <a:t>【推薦：地端內部伺服器】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專案性質：含個資事故點、國防管制區、數十 GB 點雲光達</a:t>
            </a:r>
            <a:br/>
            <a:r>
              <a:t>• 核心訴求：機密圖資絕不能外流、需極致本機 CPU 算力</a:t>
            </a:r>
            <a:br/>
            <a:r>
              <a:t>• 搭配方案：辦公室工作站 + 本地 QGIS / Python 後端</a:t>
            </a:r>
            <a:br/>
            <a:r>
              <a:t>• 優勢：完全不吃外網流量、100% 符合資安法規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700" b="1">
                <a:solidFill>
                  <a:srgbClr val="0284C7"/>
                </a:solidFill>
                <a:latin typeface="Noto Sans TC"/>
              </a:defRPr>
            </a:pPr>
            <a:r>
              <a:t>情境 C：現代最佳實務</a:t>
            </a:r>
            <a:br/>
            <a:r>
              <a:t>【推薦：地端處理 ＋ 線上展示】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專案性質：大型 WebGIS 決策支援系統（本專案模式）</a:t>
            </a:r>
            <a:br/>
            <a:r>
              <a:t>• 運作流程：</a:t>
            </a:r>
            <a:br/>
            <a:r>
              <a:t>   1. 地端完成巨量空間運算與數值產製 (ETL)</a:t>
            </a:r>
            <a:br/>
            <a:r>
              <a:t>   2. 線上輕量部署提供決策者即時圈選試算</a:t>
            </a:r>
            <a:br/>
            <a:r>
              <a:t>• 優勢：兼具地端強大算力與雲端隨處可用的雙重好處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本專案 WebGIS 實作方案與架構藍圖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以最小 Token 與輕量資源打造高效能空間平台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1. 前端渲染層 (Client View)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MapLibre GL JS 向量地圖核心</a:t>
            </a:r>
            <a:br/>
            <a:r>
              <a:t>• 原生 JavaScript (零 Webpack 打包)</a:t>
            </a:r>
            <a:br/>
            <a:r>
              <a:t>• GPU 硬體加速，滑順縮放平移</a:t>
            </a:r>
            <a:br/>
            <a:r>
              <a:t>• 整合 Turf.js 即時幾何計算</a:t>
            </a:r>
            <a:br/>
            <a:r>
              <a:t>• 響應式佈局支援手機與平板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2. 通訊與傳輸層 (Network)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輕量 RESTful JSON API 通訊</a:t>
            </a:r>
            <a:br/>
            <a:r>
              <a:t>• 靜態 GeoJSON 透明 Gzip 壓縮</a:t>
            </a:r>
            <a:br/>
            <a:r>
              <a:t>• 啟用 7 天瀏覽器長效快取</a:t>
            </a:r>
            <a:br/>
            <a:r>
              <a:t>• 支援 WGS84 ↔ TWD97 坐標互轉</a:t>
            </a:r>
            <a:br/>
            <a:r>
              <a:t>• 防爬蟲 robots 協議保護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sz="1800" b="1">
                <a:solidFill>
                  <a:srgbClr val="1B365D"/>
                </a:solidFill>
                <a:latin typeface="Noto Sans TC"/>
              </a:defRPr>
            </a:pPr>
            <a:r>
              <a:t>3. 後端空間引擎 (Backend Engine)</a:t>
            </a:r>
          </a:p>
          <a:p>
            <a:pPr>
              <a:spcBef>
                <a:spcPts val="12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Python 輕量多執行緒伺服器</a:t>
            </a:r>
            <a:br/>
            <a:r>
              <a:t>• GeoPandas + Shapely 核心運算</a:t>
            </a:r>
            <a:br/>
            <a:r>
              <a:t>• STRtree 空間索引 (毫秒級交集)</a:t>
            </a:r>
            <a:br/>
            <a:r>
              <a:t>• 正面評估 2.0 V2 演算法標準</a:t>
            </a:r>
            <a:br/>
            <a:r>
              <a:t>• 區分整條道路展示與細部路段框選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前後端核心指令與架構指示總結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讓非技術背景也能掌握的關鍵設計規範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指示 1：坐標系統標準化（雙軌分工）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前端顯示一律使用 WGS84 (EPSG:4326) 經緯度，後端空間面積與長度運算一律轉換為 TWD97 (EPSG:3826) 公尺制，杜絕因經緯度計算面積產生的巨大誤差。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指示 2：圖資層級分工（展示 vs 框選）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地圖上點選 Popup 使用「整條道路匯總成果」以掌握全路廊概況；空間框選分析則調用「細部切割路段」進行真實長度加權，確保評分客觀公正。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94760"/>
            <a:ext cx="10728655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指示 3：演算法全面正向化對齊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依據《正面評估版 V2》標準，以「雙側基礎分 (40~80分) ＋ 四大好品質加分 (最高+20分) － 五大不良扣分 (最高-20分)」直接計算正面步行優良度，去除負面扣分字眼。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728655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指示 4：嚴謹防呆攔截機制</a:t>
            </a:r>
          </a:p>
          <a:p>
            <a:pPr>
              <a:spcBef>
                <a:spcPts val="4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當框選範圍內無道路與人行道（如水域或荒地）時，後端即時攔截並回傳提示，前端不核發基礎分、不呈現評估卡片，杜絕湖面產出分數的盲點。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UI / UX 空間互動與版面調優要訣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以使用者為中心的直覺操作體驗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852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defRPr sz="1700" b="1">
                <a:solidFill>
                  <a:srgbClr val="0284C7"/>
                </a:solidFill>
                <a:latin typeface="Noto Sans TC"/>
              </a:defRPr>
            </a:pPr>
            <a:r>
              <a:t>1. 地圖視角最大化與無遮擋設計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側欄採可收合抽屜式設計，預設給予地圖最大可視區域</a:t>
            </a:r>
            <a:br/>
            <a:r>
              <a:t>• 底部分析成果面板支援上滑展開與半屏檢視</a:t>
            </a:r>
            <a:br/>
            <a:r>
              <a:t>• 確保在平板橫向與手機直向皆不遮擋地圖中央焦點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852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defRPr sz="1700" b="1">
                <a:solidFill>
                  <a:srgbClr val="0284C7"/>
                </a:solidFill>
                <a:latin typeface="Noto Sans TC"/>
              </a:defRPr>
            </a:pPr>
            <a:r>
              <a:t>2. 雙軌操作控制與狀態自動清除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框選面板配置「結束框選」與「清除框選」成對按鈕</a:t>
            </a:r>
            <a:br/>
            <a:r>
              <a:t>• 切換分頁或分析失敗時，系統自動清除圖面殘留幾何</a:t>
            </a:r>
            <a:br/>
            <a:r>
              <a:t>• 杜絕需切換至量測工具才能清除標記的混淆操作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852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defRPr sz="1700" b="1">
                <a:solidFill>
                  <a:srgbClr val="0284C7"/>
                </a:solidFill>
                <a:latin typeface="Noto Sans TC"/>
              </a:defRPr>
            </a:pPr>
            <a:r>
              <a:t>3. 資訊密度與圖表響應式精簡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手機版生活機能圓餅圖隱藏側邊文字，改為置中展示</a:t>
            </a:r>
            <a:br/>
            <a:r>
              <a:t>• 點擊扇區即可浮現分類處數與占比，解決小螢幕擁擠</a:t>
            </a:r>
            <a:br/>
            <a:r>
              <a:t>• 下方搭配完整數據表格，兼顧美觀與資料查閱完整性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852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defRPr sz="1700" b="1">
                <a:solidFill>
                  <a:srgbClr val="0284C7"/>
                </a:solidFill>
                <a:latin typeface="Noto Sans TC"/>
              </a:defRPr>
            </a:pPr>
            <a:r>
              <a:t>4. 彈跳視窗關閉防呆機制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Popup 底部增設顯著「關閉 ✕」實體按鈕</a:t>
            </a:r>
            <a:br/>
            <a:r>
              <a:t>• 支援點擊地圖任意空白處關閉，完美解決觸控失靈問題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實務維運常見狀況與因應之道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如何確保系統長治久安與高可用性？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狀況 1：雲端免費頻寬耗盡警訊 (如 Render 5GB 上限)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核心原因：每次開啟載入 159 MB 原始人行道圖資，20~25 次即用盡。</a:t>
            </a:r>
            <a:br/>
            <a:r>
              <a:t>• 根本解法：啟用 7 天瀏覽器長效快取 (Cache-Control) ＋ Gzip 壓縮傳輸，單次流量節省 70%，重複造訪 0 流量消耗。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狀況 2：大範圍向量圖資載入導致瀏覽器凍結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核心原因：8 萬筆多邊形一次塞入 DOM，低階手機或老舊電腦記憶體不足。</a:t>
            </a:r>
            <a:br/>
            <a:r>
              <a:t>• 根本解法：幾何拓撲簡化 (Douglas-Peucker 5m 容差) ＋ 屬性精簡，檔案縮小 60% 且毫秒級秒開。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700" b="1">
                <a:solidFill>
                  <a:srgbClr val="1B365D"/>
                </a:solidFill>
                <a:latin typeface="Noto Sans TC"/>
              </a:defRPr>
            </a:pPr>
            <a:r>
              <a:t>狀況 3：內部專案被搜尋引擎爬取外洩</a:t>
            </a:r>
          </a:p>
          <a:p>
            <a:pPr>
              <a:spcBef>
                <a:spcPts val="600"/>
              </a:spcBef>
              <a:defRPr sz="1600">
                <a:solidFill>
                  <a:srgbClr val="1E293B"/>
                </a:solidFill>
                <a:latin typeface="Noto Sans TC"/>
              </a:defRPr>
            </a:pPr>
            <a:r>
              <a:t>• 核心原因：公網網址若未設防，可能被搜尋引擎爬蟲建立公開索引。</a:t>
            </a:r>
            <a:br/>
            <a:r>
              <a:t>• 根本解法：在 HTML 注入 &lt;meta name='robots' content='noindex, nofollow'&gt;，強制全網爬蟲忽略該站。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Noto Sans TC"/>
              </a:defRPr>
            </a:pPr>
            <a:r>
              <a:t>結論與系統成效總結</a:t>
            </a:r>
          </a:p>
          <a:p>
            <a:pPr>
              <a:defRPr sz="1600">
                <a:solidFill>
                  <a:srgbClr val="E0F2FE"/>
                </a:solidFill>
                <a:latin typeface="Noto Sans TC"/>
              </a:defRPr>
            </a:pPr>
            <a:r>
              <a:t>兼具專業性、易用度與極低維護成本的決策平台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2000" b="1">
                <a:solidFill>
                  <a:srgbClr val="1B365D"/>
                </a:solidFill>
                <a:latin typeface="Noto Sans TC"/>
              </a:defRPr>
            </a:pPr>
            <a:r>
              <a:t>🎯 本專案達成之關鍵效益指標：</a:t>
            </a:r>
          </a:p>
          <a:p>
            <a:pPr>
              <a:spcBef>
                <a:spcPts val="1200"/>
              </a:spcBef>
              <a:defRPr sz="1650">
                <a:solidFill>
                  <a:srgbClr val="1E293B"/>
                </a:solidFill>
                <a:latin typeface="Noto Sans TC"/>
              </a:defRPr>
            </a:pPr>
            <a:r>
              <a:t>1. 零額外軟體依賴：決策者、審查委員與民眾無需安裝 QGIS，手機/平板瀏覽器隨開即用。</a:t>
            </a:r>
          </a:p>
          <a:p>
            <a:pPr>
              <a:spcBef>
                <a:spcPts val="1200"/>
              </a:spcBef>
              <a:defRPr sz="1650">
                <a:solidFill>
                  <a:srgbClr val="1E293B"/>
                </a:solidFill>
                <a:latin typeface="Noto Sans TC"/>
              </a:defRPr>
            </a:pPr>
            <a:r>
              <a:t>2. 極致流暢度與低耗損：透過 Gzip 傳輸與長效快取，將出站流量壓低 90%，5GB 免費額度綽綽有餘。</a:t>
            </a:r>
          </a:p>
          <a:p>
            <a:pPr>
              <a:spcBef>
                <a:spcPts val="1200"/>
              </a:spcBef>
              <a:defRPr sz="1650">
                <a:solidFill>
                  <a:srgbClr val="1E293B"/>
                </a:solidFill>
                <a:latin typeface="Noto Sans TC"/>
              </a:defRPr>
            </a:pPr>
            <a:r>
              <a:t>3. 演算法完全公正透明：嚴格落實國土署 2.0 V2 正面五級分評鑑，兼顧雙側基礎分、好品質加分與不良扣分。</a:t>
            </a:r>
          </a:p>
          <a:p>
            <a:pPr>
              <a:spcBef>
                <a:spcPts val="1200"/>
              </a:spcBef>
              <a:defRPr sz="1650">
                <a:solidFill>
                  <a:srgbClr val="1E293B"/>
                </a:solidFill>
                <a:latin typeface="Noto Sans TC"/>
              </a:defRPr>
            </a:pPr>
            <a:r>
              <a:t>4. 操作防呆與直覺回饋：無道路不予分析攔截、雙軌清除控制、觸控彈窗優化，打造零學習門檻的操作體驗。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